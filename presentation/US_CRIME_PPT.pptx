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A1A1A"/>
    <a:srgbClr val="003366"/>
    <a:srgbClr val="4D4D4D"/>
    <a:srgbClr val="F0F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38"/>
    <p:restoredTop sz="94678"/>
  </p:normalViewPr>
  <p:slideViewPr>
    <p:cSldViewPr snapToGrid="0">
      <p:cViewPr varScale="1">
        <p:scale>
          <a:sx n="109" d="100"/>
          <a:sy n="109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2A26D-39EF-9B42-82DA-0DFC97FCD75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F1EA5-C1D3-7E4C-ABDD-CE8D2A5BF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2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F2E5-48FB-FCC6-8A4D-DBEEA782C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D8955-5B72-D1A3-1476-98071F595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BC395-88C9-9972-C8CA-C18DC647B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67F6A-707D-9C64-8F60-2D30B0C1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C09BF-307B-51CE-24BD-AD4AD471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5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6087-56C8-8E34-CA99-97D17B7E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3F98A-8069-A594-CA5A-5CE086D03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4C26-5A30-6250-8467-E8F7531B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B5864-78FD-D06E-DD1F-2BB33C93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10C9C-5077-1600-EEE8-ECB70F3C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7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CE2F-4160-FD33-E4F9-924812DF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D6BBF-C9EE-1DAC-1D18-8F6C1067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E5603-E98B-9F1D-6C75-035EF281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E67D3-FBCB-6006-31D2-FC44A17C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6807-AB81-6940-FDF0-A871051D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EDCE-9B85-47EC-82A8-31C735E9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7A769-49D2-EF7B-8BDE-B72BBD085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D75EE-F36A-80A0-4027-7AA78602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10F18-80B5-9C65-6EE6-CA510535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BF506-2C8B-B154-A517-9B95E714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CDB1E-7CB8-72B5-8CD6-FA6AC400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3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BE53-04AD-7E14-0E40-91E64FE7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DBDC9-1FAB-B643-C4FC-7782C505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18390-8A73-3265-DE43-F6793B1E8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66AB7-3CB8-323B-9426-D168761F3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5F4DD-EE51-1C32-87C3-6469249BD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96227-3DC0-CF7C-DA10-32A255C3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58E23-E925-2717-576E-6ECC0C71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2C241-4597-F5C7-FF03-2D9940F9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7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2BD5-83EA-6B85-BBF4-0581ABF5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229DE-2C8B-ECCE-E238-6F4B0397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365BC-0E44-AD96-FB75-A60EBB67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FE15E-C95D-57FF-E10F-F92222B3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6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F1E23-182B-2580-EB60-01BFA146B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62ADD-5307-F4DF-BABB-8B14D8B1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FA6CD-40D3-27E7-788B-C0EB6455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9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4F20-B1A2-C2B7-C13D-11E052FD1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5D5F-8C6D-A605-9BCD-C3F88D48F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5D52C-AC03-C638-6FB4-E9FBC00FA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6F0F6-0ED9-A3AB-1390-8A2400C3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5A4DD-4AF8-F677-D0B0-F3EE39DDD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70CF2-7F72-B3F4-BA73-A774000D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0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F8A9-2C5A-6314-75A3-798DDF49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30431-7FE5-76A2-F793-8F524A5FE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C8932-DFCC-2AC8-7EB4-42BDAD270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BFC5D-966A-9C5C-E1FD-0AF2167D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ED8A9-4512-B8FC-A72D-F2FDE2D7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06B48-889E-9C62-CB41-1C63A761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8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3193-EB35-1D83-74A3-8C7EA84D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01412-4231-7E62-889E-954F59388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A1DFC-E819-3CE8-E1D7-1E8F5AF1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2681E-ABED-F1E7-B597-149CD9B7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B1415-C70D-AC01-9124-6808F0FD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6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994D2E-286C-3068-926D-A176C7768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286F1-95A0-7129-A555-AEC26786B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87F83-20ED-5E41-8796-A10377DC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1D182-3179-9429-7A4B-9E4B4415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0E9BF-E78F-D5C7-FA62-C59107C8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5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3366">
                <a:lumMod val="99000"/>
                <a:lumOff val="1000"/>
              </a:srgbClr>
            </a:gs>
            <a:gs pos="81000">
              <a:srgbClr val="1A1A1A">
                <a:lumMod val="0"/>
                <a:alpha val="97130"/>
              </a:srgbClr>
            </a:gs>
            <a:gs pos="100000">
              <a:srgbClr val="000000">
                <a:lumMod val="688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FED971-4033-C30B-FD37-567B303B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2BF96-5B1A-2407-508A-FE98FB5BB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33708-7DBB-07AC-E323-3119D9728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A6F09-5DFF-E543-8DC1-DE82116D5A1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94ACB-0137-2715-DDC3-3B2CDD93E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5B1CC-4BAF-26AE-06E3-0C9AD64E5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DE404-388B-A945-9070-916D6E8E8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7BA329-B5E8-0BA7-214F-E678E2F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24707"/>
            <a:ext cx="10515600" cy="1596537"/>
          </a:xfrm>
        </p:spPr>
        <p:txBody>
          <a:bodyPr>
            <a:normAutofit/>
          </a:bodyPr>
          <a:lstStyle/>
          <a:p>
            <a:pPr algn="ctr"/>
            <a:r>
              <a:rPr lang="en-US" sz="4500" dirty="0">
                <a:solidFill>
                  <a:schemeClr val="bg1"/>
                </a:solidFill>
              </a:rPr>
              <a:t>CRIME TRENDS AND PATTERNS IN US </a:t>
            </a:r>
            <a:br>
              <a:rPr lang="en-US" sz="4500" dirty="0">
                <a:solidFill>
                  <a:schemeClr val="bg1"/>
                </a:solidFill>
              </a:rPr>
            </a:br>
            <a:r>
              <a:rPr lang="en-US" sz="4500" dirty="0">
                <a:solidFill>
                  <a:schemeClr val="bg1"/>
                </a:solidFill>
              </a:rPr>
              <a:t>				</a:t>
            </a:r>
            <a:r>
              <a:rPr lang="en-US" sz="4000" dirty="0">
                <a:solidFill>
                  <a:schemeClr val="bg1"/>
                </a:solidFill>
              </a:rPr>
              <a:t>- A Data Driven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C1F97-C9B7-8B4C-EB1B-209A559A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36757"/>
            <a:ext cx="10515600" cy="150018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BY:</a:t>
            </a:r>
          </a:p>
          <a:p>
            <a:r>
              <a:rPr lang="en-US" dirty="0">
                <a:solidFill>
                  <a:schemeClr val="bg1"/>
                </a:solidFill>
              </a:rPr>
              <a:t>JAIMIN SORATHIYA - 002419803</a:t>
            </a:r>
          </a:p>
          <a:p>
            <a:r>
              <a:rPr lang="en-US" dirty="0">
                <a:solidFill>
                  <a:schemeClr val="bg1"/>
                </a:solidFill>
              </a:rPr>
              <a:t>DEV PATEL.                 - 002024221</a:t>
            </a:r>
          </a:p>
          <a:p>
            <a:r>
              <a:rPr lang="en-US" dirty="0">
                <a:solidFill>
                  <a:schemeClr val="bg1"/>
                </a:solidFill>
              </a:rPr>
              <a:t>HITAXI LETHWALA   - 002020760</a:t>
            </a:r>
          </a:p>
        </p:txBody>
      </p:sp>
    </p:spTree>
    <p:extLst>
      <p:ext uri="{BB962C8B-B14F-4D97-AF65-F5344CB8AC3E}">
        <p14:creationId xmlns:p14="http://schemas.microsoft.com/office/powerpoint/2010/main" val="23336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232E6-5D53-EE5C-B9F9-667209DB3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25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Crime analysis plays a crucial role in public safety, policymaking, and law enforcement.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Understanding patterns in crime data can help in identifying trends, high-risk locations, and factors influencing crime-solving rates.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The goal of our project is to analyze the crime dataset, extract patterns, and visualize crime trends across different states and years. We aim to answer key questions such as: 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  <a:cs typeface="Calibri" panose="020F0502020204030204" pitchFamily="34" charset="0"/>
              </a:rPr>
              <a:t>	</a:t>
            </a:r>
            <a:r>
              <a:rPr lang="en-US" sz="2200" dirty="0">
                <a:solidFill>
                  <a:schemeClr val="bg1"/>
                </a:solidFill>
                <a:cs typeface="Calibri" panose="020F0502020204030204" pitchFamily="34" charset="0"/>
              </a:rPr>
              <a:t>- </a:t>
            </a:r>
            <a:r>
              <a:rPr lang="en-US" sz="220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Which crimes are most common? 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	- Which states report higher crime rates? 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	- How does crime-solving efficiency vary across different crime types?</a:t>
            </a:r>
          </a:p>
          <a:p>
            <a:pPr algn="just"/>
            <a:endParaRPr lang="en-US" sz="24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195FD5-887A-098F-06E7-F74E42AD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51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INTRODUCTION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7569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A45D-CCFC-4218-0CE7-B7C866DC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51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94A15-86CF-CD6B-7658-8499E1825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660"/>
            <a:ext cx="10515600" cy="470249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It contains over </a:t>
            </a:r>
            <a:r>
              <a:rPr lang="en-US" sz="2400" b="1" dirty="0">
                <a:solidFill>
                  <a:schemeClr val="bg1"/>
                </a:solidFill>
                <a:effectLst/>
              </a:rPr>
              <a:t>638,000</a:t>
            </a:r>
            <a:r>
              <a:rPr lang="en-US" sz="2400" dirty="0">
                <a:solidFill>
                  <a:schemeClr val="bg1"/>
                </a:solidFill>
                <a:effectLst/>
              </a:rPr>
              <a:t> crime records from different law enforcement agencies across the U.S. spanning multiple years.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  <a:effectLst/>
              </a:rPr>
              <a:t>Key attributes in the dataset include:</a:t>
            </a:r>
            <a:endParaRPr lang="en-US" sz="2400" dirty="0">
              <a:solidFill>
                <a:schemeClr val="bg1"/>
              </a:solidFill>
              <a:effectLst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  <a:effectLst/>
              </a:rPr>
              <a:t>	</a:t>
            </a:r>
            <a:r>
              <a:rPr lang="en-US" sz="2200" dirty="0">
                <a:solidFill>
                  <a:schemeClr val="bg1"/>
                </a:solidFill>
                <a:effectLst/>
              </a:rPr>
              <a:t>- Crime Type (murder, manslaughter, robbery)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- Location (city and state)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Year and Month of the crime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- Victim and Perpetrator demographics (age, sex, race)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- Whether the crime was solved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- Weapon used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This dataset allows us to analyze crime trends over time and across locations while also investigating correlations between different factors.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866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34E3C4-390C-9C69-F72F-A2BAB332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DATA SELECTION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D882DA-B30A-13C7-3D3D-43DDF25B2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8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Since the dataset contains </a:t>
            </a:r>
            <a:r>
              <a:rPr lang="en-US" sz="2400" b="1" dirty="0">
                <a:solidFill>
                  <a:schemeClr val="bg1"/>
                </a:solidFill>
                <a:effectLst/>
              </a:rPr>
              <a:t>24 attributes</a:t>
            </a:r>
            <a:r>
              <a:rPr lang="en-US" sz="2400" dirty="0">
                <a:solidFill>
                  <a:schemeClr val="bg1"/>
                </a:solidFill>
                <a:effectLst/>
              </a:rPr>
              <a:t>, we carefully selected the most relevant variables for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effectLst/>
              </a:rPr>
              <a:t>our analysis.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Our focus is on: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bg1"/>
                </a:solidFill>
                <a:effectLst/>
              </a:rPr>
              <a:t>	</a:t>
            </a:r>
            <a:r>
              <a:rPr lang="en-US" sz="2200" b="1" dirty="0">
                <a:solidFill>
                  <a:schemeClr val="bg1"/>
                </a:solidFill>
                <a:effectLst/>
              </a:rPr>
              <a:t>- Year &amp; Month</a:t>
            </a:r>
            <a:r>
              <a:rPr lang="en-US" sz="2200" dirty="0">
                <a:solidFill>
                  <a:schemeClr val="bg1"/>
                </a:solidFill>
                <a:effectLst/>
              </a:rPr>
              <a:t> – To examine trends over time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Crime Type</a:t>
            </a:r>
            <a:r>
              <a:rPr lang="en-US" sz="2200" dirty="0">
                <a:solidFill>
                  <a:schemeClr val="bg1"/>
                </a:solidFill>
                <a:effectLst/>
              </a:rPr>
              <a:t> – To identify the most frequent crimes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Crime Solved Status</a:t>
            </a:r>
            <a:r>
              <a:rPr lang="en-US" sz="2200" dirty="0">
                <a:solidFill>
                  <a:schemeClr val="bg1"/>
                </a:solidFill>
                <a:effectLst/>
              </a:rPr>
              <a:t> – To assess law enforcement efficiency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</a:rPr>
              <a:t>	- </a:t>
            </a:r>
            <a:r>
              <a:rPr lang="en-US" sz="2200" b="1" dirty="0">
                <a:solidFill>
                  <a:schemeClr val="bg1"/>
                </a:solidFill>
                <a:effectLst/>
              </a:rPr>
              <a:t>Victim &amp; Perpetrator Details</a:t>
            </a:r>
            <a:r>
              <a:rPr lang="en-US" sz="2200" dirty="0">
                <a:solidFill>
                  <a:schemeClr val="bg1"/>
                </a:solidFill>
                <a:effectLst/>
              </a:rPr>
              <a:t> – To analyze crime demographics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Weapon Used</a:t>
            </a:r>
            <a:r>
              <a:rPr lang="en-US" sz="2200" dirty="0">
                <a:solidFill>
                  <a:schemeClr val="bg1"/>
                </a:solidFill>
                <a:effectLst/>
              </a:rPr>
              <a:t> – To explore the role of weapons in different crime types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These variables help us answer our research questions while ensuring meaningful visual representation.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12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C393-3402-034A-4B6B-C51E4BED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7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FOCUS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84BE-07D2-BFFE-264C-7E5D752E4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15"/>
            <a:ext cx="10515600" cy="508446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The main objective of our analysis is to identify patterns and trends in crime data using computational techniques and visualizations.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  <a:effectLst/>
              </a:rPr>
              <a:t>Key Research Questions:</a:t>
            </a:r>
            <a:endParaRPr lang="en-US" sz="2400" dirty="0">
              <a:solidFill>
                <a:schemeClr val="bg1"/>
              </a:solidFill>
              <a:effectLst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  <a:effectLst/>
              </a:rPr>
              <a:t>	</a:t>
            </a:r>
            <a:r>
              <a:rPr lang="en-US" sz="2200" dirty="0">
                <a:solidFill>
                  <a:schemeClr val="bg1"/>
                </a:solidFill>
                <a:effectLst/>
              </a:rPr>
              <a:t>- How have crime rates changed over the years?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- Which states report the highest crime rates?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- What factors influence whether a crime is solved?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- Is there a correlation between crime type and weapon usage?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  <a:effectLst/>
              </a:rPr>
              <a:t>Computational Techniques Used:</a:t>
            </a:r>
            <a:endParaRPr lang="en-US" sz="2400" dirty="0">
              <a:solidFill>
                <a:schemeClr val="bg1"/>
              </a:solidFill>
              <a:effectLst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bg1"/>
                </a:solidFill>
              </a:rPr>
              <a:t>	</a:t>
            </a:r>
            <a:r>
              <a:rPr lang="en-US" sz="2200" b="1" dirty="0">
                <a:solidFill>
                  <a:schemeClr val="bg1"/>
                </a:solidFill>
              </a:rPr>
              <a:t>- </a:t>
            </a:r>
            <a:r>
              <a:rPr lang="en-US" sz="2200" dirty="0">
                <a:solidFill>
                  <a:schemeClr val="bg1"/>
                </a:solidFill>
                <a:effectLst/>
              </a:rPr>
              <a:t>Descriptive Statistics: Summarizing crime frequencies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Data Visualization: Creating graphs, maps, and heatmaps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Correlation Analysis: Examining relationships between variables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  <a:effectLst/>
              </a:rPr>
              <a:t>	 	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49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CA34-5C4D-53FF-A73C-F836ABEF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24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VISUALIZING CRIME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C5D6-D5B5-7EDB-7F54-55488DF6C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534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To better understand crime trends, we created the following visualizations: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bg1"/>
                </a:solidFill>
                <a:effectLst/>
              </a:rPr>
              <a:t>	</a:t>
            </a:r>
            <a:r>
              <a:rPr lang="en-US" sz="2200" b="1" dirty="0">
                <a:solidFill>
                  <a:schemeClr val="bg1"/>
                </a:solidFill>
                <a:effectLst/>
              </a:rPr>
              <a:t>- </a:t>
            </a:r>
            <a:r>
              <a:rPr lang="en-US" sz="2200" dirty="0">
                <a:solidFill>
                  <a:schemeClr val="bg1"/>
                </a:solidFill>
                <a:effectLst/>
              </a:rPr>
              <a:t>Bar Charts    – To show crime frequency across different crime types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Line Graphs – To visualize how crime rates have changed over the 				    	years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Heatmaps    – To illustrate crime distribution across states</a:t>
            </a:r>
          </a:p>
          <a:p>
            <a:pPr algn="just"/>
            <a:r>
              <a:rPr lang="en-US" sz="2400" b="1">
                <a:solidFill>
                  <a:schemeClr val="bg1"/>
                </a:solidFill>
              </a:rPr>
              <a:t> </a:t>
            </a:r>
            <a:r>
              <a:rPr lang="en-US" sz="2400">
                <a:solidFill>
                  <a:schemeClr val="bg1"/>
                </a:solidFill>
              </a:rPr>
              <a:t>The </a:t>
            </a:r>
            <a:r>
              <a:rPr lang="en-US" sz="2400" dirty="0">
                <a:solidFill>
                  <a:schemeClr val="bg1"/>
                </a:solidFill>
              </a:rPr>
              <a:t>bar chart shows the distribution of different crime types in our dataset</a:t>
            </a:r>
            <a:endParaRPr lang="en-US" sz="2400" dirty="0">
              <a:solidFill>
                <a:schemeClr val="bg1"/>
              </a:solidFill>
              <a:effectLst/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Another key visualization is the heatmap, which highlights crime intensity across different states.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Darker regions indicate higher crime densities. This helps in identifying high-risk areas where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effectLst/>
              </a:rPr>
              <a:t>crime prevention strategies can be focused.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73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5BD40-B60B-6C9B-ABA0-5FC01285E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21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KEY FINDINGS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928C-FCBA-F15B-E44E-141E7176C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502"/>
            <a:ext cx="10515600" cy="449928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Based on our analysis, we have derived the following key insights: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bg1"/>
                </a:solidFill>
                <a:effectLst/>
              </a:rPr>
              <a:t>	</a:t>
            </a:r>
            <a:r>
              <a:rPr lang="en-US" sz="2200" b="1" dirty="0">
                <a:solidFill>
                  <a:schemeClr val="bg1"/>
                </a:solidFill>
                <a:effectLst/>
              </a:rPr>
              <a:t>- </a:t>
            </a:r>
            <a:r>
              <a:rPr lang="en-US" sz="2200" dirty="0">
                <a:solidFill>
                  <a:schemeClr val="bg1"/>
                </a:solidFill>
                <a:effectLst/>
              </a:rPr>
              <a:t>Crime Rates Vary Across States: Some states report significantly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bg1"/>
                </a:solidFill>
                <a:effectLst/>
              </a:rPr>
              <a:t>		higher crime rates than others.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Trends Over Time: Crime rates for certain crimes have either increased 			or decreased over the years.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Crime-Solving Efficiency: Some crimes are more likely to be solved, 			while others remain unsolved.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bg1"/>
                </a:solidFill>
                <a:effectLst/>
              </a:rPr>
              <a:t>	- </a:t>
            </a:r>
            <a:r>
              <a:rPr lang="en-US" sz="2200" dirty="0">
                <a:solidFill>
                  <a:schemeClr val="bg1"/>
                </a:solidFill>
                <a:effectLst/>
              </a:rPr>
              <a:t>Weapon Usage Patterns: Specific weapons are more commonly used 			in certain crime types.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effectLst/>
              </a:rPr>
              <a:t>These insights can be useful for policymakers, law enforcement agencies, and crime prevention initiatives.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20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669</Words>
  <Application>Microsoft Macintosh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CRIME TRENDS AND PATTERNS IN US      - A Data Driven Analysis</vt:lpstr>
      <vt:lpstr>INTRODUCTION</vt:lpstr>
      <vt:lpstr>DATA IDENTIFICATION</vt:lpstr>
      <vt:lpstr>DATA SELECTION</vt:lpstr>
      <vt:lpstr>FOCUS OF ANALYSIS</vt:lpstr>
      <vt:lpstr>VISUALIZING CRIME TRENDS</vt:lpstr>
      <vt:lpstr>KEY FINDINGS AND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Mittalkumar Patel</dc:creator>
  <cp:lastModifiedBy>Dev Mittalkumar Patel</cp:lastModifiedBy>
  <cp:revision>6</cp:revision>
  <dcterms:created xsi:type="dcterms:W3CDTF">2025-02-08T21:56:59Z</dcterms:created>
  <dcterms:modified xsi:type="dcterms:W3CDTF">2025-02-10T23:56:51Z</dcterms:modified>
</cp:coreProperties>
</file>